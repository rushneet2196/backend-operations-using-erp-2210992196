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7559675" cy="106918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j8wuJTCCbS05lGx88kMA9EIXF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234"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1: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
        <p:nvSpPr>
          <p:cNvPr id="82" name="Google Shape;82;p1:notes"/>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e6813604e6_1_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e6813604e6_1_12: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g3e6813604e6_1_12: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e6813604e6_1_2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e6813604e6_1_22: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g3e6813604e6_1_22: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3e6813604e6_1_2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3e6813604e6_1_29: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g3e6813604e6_1_29: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e6813604e6_1_3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e6813604e6_1_37: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 name="Google Shape;116;g3e6813604e6_1_37: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e6813604e6_1_4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e6813604e6_1_45: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g3e6813604e6_1_45: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e6813604e6_1_5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e6813604e6_1_5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3e6813604e6_1_53: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e6813604e6_1_6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3e6813604e6_1_61: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g3e6813604e6_1_61: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e6813604e6_1_7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e6813604e6_1_70: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8" name="Google Shape;148;g3e6813604e6_1_70: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e6813604e6_1_7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e6813604e6_1_78: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g3e6813604e6_1_78: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e6813604e6_1_8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e6813604e6_1_85: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e6813604e6_1_85: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e6813604e6_1_9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e6813604e6_1_93:notes"/>
          <p:cNvSpPr txBox="1">
            <a:spLocks noGrp="1"/>
          </p:cNvSpPr>
          <p:nvPr>
            <p:ph type="body" idx="1"/>
          </p:nvPr>
        </p:nvSpPr>
        <p:spPr>
          <a:xfrm>
            <a:off x="755650" y="5145088"/>
            <a:ext cx="6048300" cy="42102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g3e6813604e6_1_93:notes"/>
          <p:cNvSpPr txBox="1">
            <a:spLocks noGrp="1"/>
          </p:cNvSpPr>
          <p:nvPr>
            <p:ph type="sldNum" idx="12"/>
          </p:nvPr>
        </p:nvSpPr>
        <p:spPr>
          <a:xfrm>
            <a:off x="4281488" y="10155238"/>
            <a:ext cx="3276600" cy="536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6"/>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4"/>
        <p:cNvGrpSpPr/>
        <p:nvPr/>
      </p:nvGrpSpPr>
      <p:grpSpPr>
        <a:xfrm>
          <a:off x="0" y="0"/>
          <a:ext cx="0" cy="0"/>
          <a:chOff x="0" y="0"/>
          <a:chExt cx="0" cy="0"/>
        </a:xfrm>
      </p:grpSpPr>
      <p:sp>
        <p:nvSpPr>
          <p:cNvPr id="35" name="Google Shape;35;p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2 Content" type="twoObj">
  <p:cSld name="TWO_OBJECTS">
    <p:spTree>
      <p:nvGrpSpPr>
        <p:cNvPr id="1" name="Shape 37"/>
        <p:cNvGrpSpPr/>
        <p:nvPr/>
      </p:nvGrpSpPr>
      <p:grpSpPr>
        <a:xfrm>
          <a:off x="0" y="0"/>
          <a:ext cx="0" cy="0"/>
          <a:chOff x="0" y="0"/>
          <a:chExt cx="0" cy="0"/>
        </a:xfrm>
      </p:grpSpPr>
      <p:sp>
        <p:nvSpPr>
          <p:cNvPr id="38" name="Google Shape;38;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8"/>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type="objOnly">
  <p:cSld name="OBJECT_ONLY">
    <p:spTree>
      <p:nvGrpSpPr>
        <p:cNvPr id="1" name="Shape 43"/>
        <p:cNvGrpSpPr/>
        <p:nvPr/>
      </p:nvGrpSpPr>
      <p:grpSpPr>
        <a:xfrm>
          <a:off x="0" y="0"/>
          <a:ext cx="0" cy="0"/>
          <a:chOff x="0" y="0"/>
          <a:chExt cx="0" cy="0"/>
        </a:xfrm>
      </p:grpSpPr>
      <p:sp>
        <p:nvSpPr>
          <p:cNvPr id="44" name="Google Shape;44;p10"/>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11"/>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11"/>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11"/>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0"/>
        <p:cNvGrpSpPr/>
        <p:nvPr/>
      </p:nvGrpSpPr>
      <p:grpSpPr>
        <a:xfrm>
          <a:off x="0" y="0"/>
          <a:ext cx="0" cy="0"/>
          <a:chOff x="0" y="0"/>
          <a:chExt cx="0" cy="0"/>
        </a:xfrm>
      </p:grpSpPr>
      <p:sp>
        <p:nvSpPr>
          <p:cNvPr id="51" name="Google Shape;51;p12"/>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12"/>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2"/>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2"/>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13"/>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4"/>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14"/>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5"/>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5"/>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15"/>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15"/>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Title, 6 Content">
    <p:spTree>
      <p:nvGrpSpPr>
        <p:cNvPr id="1" name="Shape 70"/>
        <p:cNvGrpSpPr/>
        <p:nvPr/>
      </p:nvGrpSpPr>
      <p:grpSpPr>
        <a:xfrm>
          <a:off x="0" y="0"/>
          <a:ext cx="0" cy="0"/>
          <a:chOff x="0" y="0"/>
          <a:chExt cx="0" cy="0"/>
        </a:xfrm>
      </p:grpSpPr>
      <p:sp>
        <p:nvSpPr>
          <p:cNvPr id="71" name="Google Shape;71;p1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6"/>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16"/>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16"/>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6"/>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6"/>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6"/>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4"/>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4"/>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4"/>
          <p:cNvGrpSpPr/>
          <p:nvPr/>
        </p:nvGrpSpPr>
        <p:grpSpPr>
          <a:xfrm>
            <a:off x="6146640" y="0"/>
            <a:ext cx="2997000" cy="875880"/>
            <a:chOff x="6146640" y="0"/>
            <a:chExt cx="2997000" cy="875880"/>
          </a:xfrm>
        </p:grpSpPr>
        <p:sp>
          <p:nvSpPr>
            <p:cNvPr id="15" name="Google Shape;15;p4"/>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6" name="Google Shape;16;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4"/>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8" name="Google Shape;18;p4"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4"/>
          <p:cNvGrpSpPr/>
          <p:nvPr/>
        </p:nvGrpSpPr>
        <p:grpSpPr>
          <a:xfrm>
            <a:off x="6146640" y="0"/>
            <a:ext cx="2997000" cy="875880"/>
            <a:chOff x="6146640" y="0"/>
            <a:chExt cx="2997000" cy="875880"/>
          </a:xfrm>
        </p:grpSpPr>
        <p:sp>
          <p:nvSpPr>
            <p:cNvPr id="21" name="Google Shape;21;p4"/>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 name="Google Shape;22;p4"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4"/>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4" name="Google Shape;24;p4"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4"/>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6" name="Google Shape;26;p4"/>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4"/>
          <p:cNvSpPr txBox="1">
            <a:spLocks noGrp="1"/>
          </p:cNvSpPr>
          <p:nvPr>
            <p:ph type="dt" idx="10"/>
          </p:nvPr>
        </p:nvSpPr>
        <p:spPr>
          <a:xfrm>
            <a:off x="457200" y="6356520"/>
            <a:ext cx="213336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8" name="Google Shape;28;p4"/>
          <p:cNvSpPr txBox="1">
            <a:spLocks noGrp="1"/>
          </p:cNvSpPr>
          <p:nvPr>
            <p:ph type="ftr" idx="11"/>
          </p:nvPr>
        </p:nvSpPr>
        <p:spPr>
          <a:xfrm>
            <a:off x="3124080" y="6356520"/>
            <a:ext cx="2895120" cy="3646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8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29" name="Google Shape;29;p4"/>
          <p:cNvSpPr txBox="1">
            <a:spLocks noGrp="1"/>
          </p:cNvSpPr>
          <p:nvPr>
            <p:ph type="sldNum" idx="12"/>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None/>
              <a:defRPr sz="1200" b="0" i="0" u="none" strike="noStrike" cap="none">
                <a:solidFill>
                  <a:srgbClr val="898989"/>
                </a:solidFill>
                <a:latin typeface="Calibri"/>
                <a:ea typeface="Calibri"/>
                <a:cs typeface="Calibri"/>
                <a:sym typeface="Calibri"/>
              </a:defRPr>
            </a:lvl1pPr>
            <a:lvl2pPr marL="0" marR="0" lvl="1" indent="0" algn="r" rtl="0">
              <a:lnSpc>
                <a:spcPct val="100000"/>
              </a:lnSpc>
              <a:spcBef>
                <a:spcPts val="0"/>
              </a:spcBef>
              <a:buNone/>
              <a:defRPr sz="1200" b="0" i="0" u="none" strike="noStrike" cap="none">
                <a:solidFill>
                  <a:srgbClr val="898989"/>
                </a:solidFill>
                <a:latin typeface="Calibri"/>
                <a:ea typeface="Calibri"/>
                <a:cs typeface="Calibri"/>
                <a:sym typeface="Calibri"/>
              </a:defRPr>
            </a:lvl2pPr>
            <a:lvl3pPr marL="0" marR="0" lvl="2" indent="0" algn="r" rtl="0">
              <a:lnSpc>
                <a:spcPct val="100000"/>
              </a:lnSpc>
              <a:spcBef>
                <a:spcPts val="0"/>
              </a:spcBef>
              <a:buNone/>
              <a:defRPr sz="1200" b="0" i="0" u="none" strike="noStrike" cap="none">
                <a:solidFill>
                  <a:srgbClr val="898989"/>
                </a:solidFill>
                <a:latin typeface="Calibri"/>
                <a:ea typeface="Calibri"/>
                <a:cs typeface="Calibri"/>
                <a:sym typeface="Calibri"/>
              </a:defRPr>
            </a:lvl3pPr>
            <a:lvl4pPr marL="0" marR="0" lvl="3" indent="0" algn="r" rtl="0">
              <a:lnSpc>
                <a:spcPct val="100000"/>
              </a:lnSpc>
              <a:spcBef>
                <a:spcPts val="0"/>
              </a:spcBef>
              <a:buNone/>
              <a:defRPr sz="1200" b="0" i="0" u="none" strike="noStrike" cap="none">
                <a:solidFill>
                  <a:srgbClr val="898989"/>
                </a:solidFill>
                <a:latin typeface="Calibri"/>
                <a:ea typeface="Calibri"/>
                <a:cs typeface="Calibri"/>
                <a:sym typeface="Calibri"/>
              </a:defRPr>
            </a:lvl4pPr>
            <a:lvl5pPr marL="0" marR="0" lvl="4" indent="0" algn="r" rtl="0">
              <a:lnSpc>
                <a:spcPct val="100000"/>
              </a:lnSpc>
              <a:spcBef>
                <a:spcPts val="0"/>
              </a:spcBef>
              <a:buNone/>
              <a:defRPr sz="1200" b="0" i="0" u="none" strike="noStrike" cap="none">
                <a:solidFill>
                  <a:srgbClr val="898989"/>
                </a:solidFill>
                <a:latin typeface="Calibri"/>
                <a:ea typeface="Calibri"/>
                <a:cs typeface="Calibri"/>
                <a:sym typeface="Calibri"/>
              </a:defRPr>
            </a:lvl5pPr>
            <a:lvl6pPr marL="0" marR="0" lvl="5" indent="0" algn="r" rtl="0">
              <a:lnSpc>
                <a:spcPct val="100000"/>
              </a:lnSpc>
              <a:spcBef>
                <a:spcPts val="0"/>
              </a:spcBef>
              <a:buNone/>
              <a:defRPr sz="1200" b="0" i="0" u="none" strike="noStrike" cap="none">
                <a:solidFill>
                  <a:srgbClr val="898989"/>
                </a:solidFill>
                <a:latin typeface="Calibri"/>
                <a:ea typeface="Calibri"/>
                <a:cs typeface="Calibri"/>
                <a:sym typeface="Calibri"/>
              </a:defRPr>
            </a:lvl6pPr>
            <a:lvl7pPr marL="0" marR="0" lvl="6" indent="0" algn="r" rtl="0">
              <a:lnSpc>
                <a:spcPct val="100000"/>
              </a:lnSpc>
              <a:spcBef>
                <a:spcPts val="0"/>
              </a:spcBef>
              <a:buNone/>
              <a:defRPr sz="1200" b="0" i="0" u="none" strike="noStrike" cap="none">
                <a:solidFill>
                  <a:srgbClr val="898989"/>
                </a:solidFill>
                <a:latin typeface="Calibri"/>
                <a:ea typeface="Calibri"/>
                <a:cs typeface="Calibri"/>
                <a:sym typeface="Calibri"/>
              </a:defRPr>
            </a:lvl7pPr>
            <a:lvl8pPr marL="0" marR="0" lvl="7" indent="0" algn="r" rtl="0">
              <a:lnSpc>
                <a:spcPct val="100000"/>
              </a:lnSpc>
              <a:spcBef>
                <a:spcPts val="0"/>
              </a:spcBef>
              <a:buNone/>
              <a:defRPr sz="1200" b="0" i="0" u="none" strike="noStrike" cap="none">
                <a:solidFill>
                  <a:srgbClr val="898989"/>
                </a:solidFill>
                <a:latin typeface="Calibri"/>
                <a:ea typeface="Calibri"/>
                <a:cs typeface="Calibri"/>
                <a:sym typeface="Calibri"/>
              </a:defRPr>
            </a:lvl8pPr>
            <a:lvl9pPr marL="0" marR="0" lvl="8" indent="0" algn="r" rtl="0">
              <a:lnSpc>
                <a:spcPct val="100000"/>
              </a:lnSpc>
              <a:spcBef>
                <a:spcPts val="0"/>
              </a:spcBef>
              <a:buNone/>
              <a:defRPr sz="12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p:nvPr/>
        </p:nvSpPr>
        <p:spPr>
          <a:xfrm>
            <a:off x="0" y="840631"/>
            <a:ext cx="9144000" cy="53772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None/>
            </a:pPr>
            <a:r>
              <a:rPr lang="en-US" sz="1800" b="1" i="0" u="none" strike="noStrike" cap="none" dirty="0">
                <a:solidFill>
                  <a:schemeClr val="dk1"/>
                </a:solidFill>
                <a:latin typeface="Times New Roman"/>
                <a:ea typeface="Times New Roman"/>
                <a:cs typeface="Times New Roman"/>
                <a:sym typeface="Times New Roman"/>
              </a:rPr>
              <a:t>Project Presentation of CO-OP Project at Industry (Module-2) (22CS421)</a:t>
            </a:r>
            <a:endParaRPr sz="18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chemeClr val="dk1"/>
                </a:solidFill>
                <a:latin typeface="Times New Roman"/>
                <a:ea typeface="Times New Roman"/>
                <a:cs typeface="Times New Roman"/>
                <a:sym typeface="Times New Roman"/>
              </a:rPr>
              <a:t>On</a:t>
            </a:r>
            <a:endParaRPr sz="2000" dirty="0">
              <a:solidFill>
                <a:schemeClr val="dk1"/>
              </a:solidFill>
              <a:latin typeface="Times New Roman"/>
              <a:ea typeface="Times New Roman"/>
              <a:cs typeface="Times New Roman"/>
              <a:sym typeface="Times New Roman"/>
            </a:endParaRPr>
          </a:p>
          <a:p>
            <a:pPr lvl="0" algn="ctr">
              <a:spcBef>
                <a:spcPts val="400"/>
              </a:spcBef>
            </a:pPr>
            <a:endParaRPr lang="en-IN" sz="2000" dirty="0">
              <a:solidFill>
                <a:schemeClr val="dk1"/>
              </a:solidFill>
              <a:latin typeface="Times New Roman"/>
              <a:cs typeface="Times New Roman"/>
              <a:sym typeface="Times New Roman"/>
            </a:endParaRPr>
          </a:p>
          <a:p>
            <a:pPr lvl="0" algn="ctr">
              <a:spcBef>
                <a:spcPts val="400"/>
              </a:spcBef>
            </a:pPr>
            <a:r>
              <a:rPr lang="en-IN" sz="2800" b="1" dirty="0">
                <a:latin typeface="Times New Roman" panose="02020603050405020304" pitchFamily="18" charset="0"/>
                <a:cs typeface="Times New Roman" panose="02020603050405020304" pitchFamily="18" charset="0"/>
              </a:rPr>
              <a:t>Improving Backend Operations Using ERP-Based Administrative Systems</a:t>
            </a:r>
            <a:br>
              <a:rPr lang="en-US" sz="2000" b="0" i="0" u="none" strike="noStrike" cap="none" dirty="0">
                <a:solidFill>
                  <a:srgbClr val="000000"/>
                </a:solidFill>
                <a:latin typeface="Times New Roman"/>
                <a:ea typeface="Times New Roman"/>
                <a:cs typeface="Times New Roman"/>
                <a:sym typeface="Times New Roman"/>
              </a:rPr>
            </a:br>
            <a:endParaRPr lang="en-US" sz="2000" b="0" i="0" u="none" strike="noStrike" cap="none" dirty="0">
              <a:solidFill>
                <a:srgbClr val="000000"/>
              </a:solidFill>
              <a:latin typeface="Times New Roman"/>
              <a:ea typeface="Times New Roman"/>
              <a:cs typeface="Times New Roman"/>
              <a:sym typeface="Times New Roman"/>
            </a:endParaRPr>
          </a:p>
          <a:p>
            <a:pPr lvl="0" algn="ctr">
              <a:spcBef>
                <a:spcPts val="400"/>
              </a:spcBef>
            </a:pPr>
            <a:r>
              <a:rPr lang="en-US" sz="2000" dirty="0" err="1">
                <a:latin typeface="Times New Roman"/>
                <a:ea typeface="Times New Roman"/>
                <a:cs typeface="Times New Roman"/>
                <a:sym typeface="Times New Roman"/>
              </a:rPr>
              <a:t>Rushneet</a:t>
            </a:r>
            <a:r>
              <a:rPr lang="en-US" sz="2000" dirty="0">
                <a:latin typeface="Times New Roman"/>
                <a:ea typeface="Times New Roman"/>
                <a:cs typeface="Times New Roman"/>
                <a:sym typeface="Times New Roman"/>
              </a:rPr>
              <a:t> Kaur</a:t>
            </a:r>
            <a:endParaRPr dirty="0"/>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2210992196</a:t>
            </a:r>
            <a:endParaRPr dirty="0"/>
          </a:p>
          <a:p>
            <a:pPr marL="0" marR="0" lvl="0" indent="0" algn="ctr" rtl="0">
              <a:lnSpc>
                <a:spcPct val="100000"/>
              </a:lnSpc>
              <a:spcBef>
                <a:spcPts val="40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b="0" i="0" u="none" strike="noStrike" cap="none" dirty="0">
                <a:solidFill>
                  <a:srgbClr val="000000"/>
                </a:solidFill>
                <a:latin typeface="Times New Roman"/>
                <a:ea typeface="Times New Roman"/>
                <a:cs typeface="Times New Roman"/>
                <a:sym typeface="Times New Roman"/>
              </a:rPr>
              <a:t>Supervised By</a:t>
            </a:r>
            <a:endParaRPr dirty="0"/>
          </a:p>
          <a:p>
            <a:pPr marL="0" marR="0" lvl="0" indent="0" algn="ctr" rtl="0">
              <a:lnSpc>
                <a:spcPct val="100000"/>
              </a:lnSpc>
              <a:spcBef>
                <a:spcPts val="400"/>
              </a:spcBef>
              <a:spcAft>
                <a:spcPts val="0"/>
              </a:spcAft>
              <a:buNone/>
            </a:pPr>
            <a:r>
              <a:rPr lang="en-US" sz="2000" dirty="0">
                <a:latin typeface="Times New Roman"/>
                <a:ea typeface="Times New Roman"/>
                <a:cs typeface="Times New Roman"/>
                <a:sym typeface="Times New Roman"/>
              </a:rPr>
              <a:t>Rajat </a:t>
            </a:r>
            <a:r>
              <a:rPr lang="en-US" sz="2000" dirty="0" err="1">
                <a:latin typeface="Times New Roman"/>
                <a:ea typeface="Times New Roman"/>
                <a:cs typeface="Times New Roman"/>
                <a:sym typeface="Times New Roman"/>
              </a:rPr>
              <a:t>Takkar</a:t>
            </a:r>
            <a:endParaRPr lang="en-US" sz="2000"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000" dirty="0">
                <a:solidFill>
                  <a:schemeClr val="dk1"/>
                </a:solidFill>
                <a:latin typeface="Times New Roman"/>
                <a:ea typeface="Times New Roman"/>
                <a:cs typeface="Times New Roman"/>
                <a:sym typeface="Times New Roman"/>
              </a:rPr>
              <a:t>Associate Professor, Department of Computer Science and Engineering</a:t>
            </a:r>
            <a:endParaRPr lang="en-US" sz="2000" dirty="0">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Department of Computer Science and Engineering, </a:t>
            </a:r>
            <a:endParaRPr dirty="0"/>
          </a:p>
          <a:p>
            <a:pPr marL="0" marR="0" lvl="0" indent="0" algn="ctr" rtl="0">
              <a:lnSpc>
                <a:spcPct val="100000"/>
              </a:lnSpc>
              <a:spcBef>
                <a:spcPts val="40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Chitkara University, Punjab</a:t>
            </a:r>
            <a:endParaRPr dirty="0"/>
          </a:p>
          <a:p>
            <a:pPr marL="0" marR="0" lvl="0" indent="0" algn="ctr" rtl="0">
              <a:lnSpc>
                <a:spcPct val="150000"/>
              </a:lnSpc>
              <a:spcBef>
                <a:spcPts val="400"/>
              </a:spcBef>
              <a:spcAft>
                <a:spcPts val="0"/>
              </a:spcAft>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None/>
            </a:pPr>
            <a:endParaRPr sz="2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p:nvPr/>
        </p:nvSpPr>
        <p:spPr>
          <a:xfrm>
            <a:off x="255350" y="0"/>
            <a:ext cx="6221400" cy="837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3200" b="0" i="0" u="none" strike="noStrike" cap="none">
                <a:solidFill>
                  <a:schemeClr val="dk1"/>
                </a:solidFill>
                <a:latin typeface="Times New Roman"/>
                <a:ea typeface="Times New Roman"/>
                <a:cs typeface="Times New Roman"/>
                <a:sym typeface="Times New Roman"/>
              </a:rPr>
              <a:t>Introduction</a:t>
            </a:r>
            <a:endParaRPr sz="3000" b="0" i="0" u="none" strike="noStrike" cap="none">
              <a:solidFill>
                <a:srgbClr val="000000"/>
              </a:solidFill>
              <a:latin typeface="Times New Roman"/>
              <a:ea typeface="Times New Roman"/>
              <a:cs typeface="Times New Roman"/>
              <a:sym typeface="Times New Roman"/>
            </a:endParaRPr>
          </a:p>
        </p:txBody>
      </p:sp>
      <p:sp>
        <p:nvSpPr>
          <p:cNvPr id="90" name="Google Shape;90;p2"/>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2</a:t>
            </a:fld>
            <a:endParaRPr sz="1200" b="0" i="0" u="none" strike="noStrike" cap="none">
              <a:solidFill>
                <a:schemeClr val="dk1"/>
              </a:solidFill>
              <a:latin typeface="Times New Roman"/>
              <a:ea typeface="Times New Roman"/>
              <a:cs typeface="Times New Roman"/>
              <a:sym typeface="Times New Roman"/>
            </a:endParaRPr>
          </a:p>
        </p:txBody>
      </p:sp>
      <p:sp>
        <p:nvSpPr>
          <p:cNvPr id="91" name="Google Shape;91;p2"/>
          <p:cNvSpPr txBox="1"/>
          <p:nvPr/>
        </p:nvSpPr>
        <p:spPr>
          <a:xfrm>
            <a:off x="164008" y="1109742"/>
            <a:ext cx="8838720" cy="5451925"/>
          </a:xfrm>
          <a:prstGeom prst="rect">
            <a:avLst/>
          </a:prstGeom>
          <a:noFill/>
          <a:ln>
            <a:noFill/>
          </a:ln>
        </p:spPr>
        <p:txBody>
          <a:bodyPr spcFirstLastPara="1" wrap="square" lIns="91425" tIns="45700" rIns="91425" bIns="45700" anchor="t" anchorCtr="0">
            <a:noAutofit/>
          </a:bodyPr>
          <a:lstStyle/>
          <a:p>
            <a:pPr lvl="0">
              <a:lnSpc>
                <a:spcPct val="115000"/>
              </a:lnSpc>
              <a:spcBef>
                <a:spcPts val="1200"/>
              </a:spcBef>
              <a:buClr>
                <a:schemeClr val="dk1"/>
              </a:buClr>
              <a:buSzPts val="1100"/>
            </a:pPr>
            <a:r>
              <a:rPr lang="en-US" sz="2000" dirty="0">
                <a:latin typeface="Times New Roman" panose="02020603050405020304" pitchFamily="18" charset="0"/>
                <a:cs typeface="Times New Roman" panose="02020603050405020304" pitchFamily="18" charset="0"/>
              </a:rPr>
              <a:t>In the modern organizational environment, backend operations play a crucial role in ensuring the smooth and efficient functioning of administrative activities. Departments such as finance, human resources, procurement, and inventory management are responsible for maintaining internal stability, yet many organizations still rely on separate systems and manual methods to manage these functions. This lack of integration often leads to delays, data duplication, communication gaps, and operational errors that affect overall efficiency. The adoption of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systems has emerged as an effective solution to overcome these challenges by connecting all departments through a unified platform. While ERP offers numerous advantages in improving backend efficiency, its implementation also involves challenges such as high initial costs, system complexity, and resistance from employees. Therefore, it becomes essential to analyze how ERP-based administrative systems enhance backend operations and contribute to long-term organizational effectiveness.</a:t>
            </a:r>
            <a:endParaRPr sz="2000" dirty="0">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3e6813604e6_1_12"/>
          <p:cNvSpPr txBox="1">
            <a:spLocks noGrp="1"/>
          </p:cNvSpPr>
          <p:nvPr>
            <p:ph type="title"/>
          </p:nvPr>
        </p:nvSpPr>
        <p:spPr>
          <a:xfrm>
            <a:off x="347775" y="0"/>
            <a:ext cx="51384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Problem Statement</a:t>
            </a:r>
            <a:r>
              <a:rPr lang="en-US"/>
              <a:t> </a:t>
            </a:r>
            <a:endParaRPr/>
          </a:p>
        </p:txBody>
      </p:sp>
      <p:sp>
        <p:nvSpPr>
          <p:cNvPr id="98" name="Google Shape;98;g3e6813604e6_1_12"/>
          <p:cNvSpPr txBox="1">
            <a:spLocks noGrp="1"/>
          </p:cNvSpPr>
          <p:nvPr>
            <p:ph type="body" idx="1"/>
          </p:nvPr>
        </p:nvSpPr>
        <p:spPr>
          <a:xfrm>
            <a:off x="347775" y="1130295"/>
            <a:ext cx="8229300" cy="5075772"/>
          </a:xfrm>
          <a:prstGeom prst="rect">
            <a:avLst/>
          </a:prstGeom>
        </p:spPr>
        <p:txBody>
          <a:bodyPr spcFirstLastPara="1" wrap="square" lIns="0" tIns="0" rIns="0" bIns="0" anchor="t" anchorCtr="0">
            <a:noAutofit/>
          </a:bodyPr>
          <a:lstStyle/>
          <a:p>
            <a:r>
              <a:rPr lang="en-US" sz="2000" dirty="0">
                <a:latin typeface="Times New Roman" panose="02020603050405020304" pitchFamily="18" charset="0"/>
                <a:cs typeface="Times New Roman" panose="02020603050405020304" pitchFamily="18" charset="0"/>
              </a:rPr>
              <a:t>In many organizations, backend departments such as finance, human resources, procurement, and inventory management continue to operate using disconnected systems and manual processes. While organizations are increasingly adopting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solutions, there is still limited structured analysis of how ERP-based administrative systems practically improve backend efficiency and coordination.</a:t>
            </a:r>
          </a:p>
          <a:p>
            <a:r>
              <a:rPr lang="en-US" sz="2000" b="1" dirty="0">
                <a:latin typeface="Times New Roman" panose="02020603050405020304" pitchFamily="18" charset="0"/>
                <a:cs typeface="Times New Roman" panose="02020603050405020304" pitchFamily="18" charset="0"/>
              </a:rPr>
              <a:t>Key Issues: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Disconnected departmental systems </a:t>
            </a:r>
          </a:p>
          <a:p>
            <a:r>
              <a:rPr lang="en-US" sz="2000" dirty="0">
                <a:latin typeface="Times New Roman" panose="02020603050405020304" pitchFamily="18" charset="0"/>
                <a:cs typeface="Times New Roman" panose="02020603050405020304" pitchFamily="18" charset="0"/>
              </a:rPr>
              <a:t>Manual and repetitive administrative work </a:t>
            </a:r>
          </a:p>
          <a:p>
            <a:r>
              <a:rPr lang="en-US" sz="2000" dirty="0">
                <a:latin typeface="Times New Roman" panose="02020603050405020304" pitchFamily="18" charset="0"/>
                <a:cs typeface="Times New Roman" panose="02020603050405020304" pitchFamily="18" charset="0"/>
              </a:rPr>
              <a:t>Data duplication and reporting delays </a:t>
            </a:r>
          </a:p>
          <a:p>
            <a:pPr marL="114300" indent="0">
              <a:buNone/>
            </a:pPr>
            <a:r>
              <a:rPr lang="en-US" sz="2000" b="1" dirty="0">
                <a:latin typeface="Times New Roman" panose="02020603050405020304" pitchFamily="18" charset="0"/>
                <a:cs typeface="Times New Roman" panose="02020603050405020304" pitchFamily="18" charset="0"/>
              </a:rPr>
              <a:t>     Core Problem:</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analyze how ERP-based administrative systems improve backend operations by enhancing efficiency, data accuracy, coordination, and decision-making through an integrated, centralized approach.</a:t>
            </a:r>
          </a:p>
          <a:p>
            <a:pPr marL="0" lvl="0" indent="0" algn="l" rtl="0">
              <a:spcBef>
                <a:spcPts val="1200"/>
              </a:spcBef>
              <a:spcAft>
                <a:spcPts val="0"/>
              </a:spcAft>
              <a:buNone/>
            </a:pP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g3e6813604e6_1_22"/>
          <p:cNvSpPr txBox="1">
            <a:spLocks noGrp="1"/>
          </p:cNvSpPr>
          <p:nvPr>
            <p:ph type="title"/>
          </p:nvPr>
        </p:nvSpPr>
        <p:spPr>
          <a:xfrm>
            <a:off x="457200" y="0"/>
            <a:ext cx="50289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Objectives</a:t>
            </a:r>
            <a:endParaRPr sz="3200">
              <a:latin typeface="Times New Roman"/>
              <a:ea typeface="Times New Roman"/>
              <a:cs typeface="Times New Roman"/>
              <a:sym typeface="Times New Roman"/>
            </a:endParaRPr>
          </a:p>
        </p:txBody>
      </p:sp>
      <p:sp>
        <p:nvSpPr>
          <p:cNvPr id="105" name="Google Shape;105;g3e6813604e6_1_22"/>
          <p:cNvSpPr txBox="1">
            <a:spLocks noGrp="1"/>
          </p:cNvSpPr>
          <p:nvPr>
            <p:ph type="body" idx="1"/>
          </p:nvPr>
        </p:nvSpPr>
        <p:spPr>
          <a:xfrm>
            <a:off x="457200" y="1172301"/>
            <a:ext cx="8229300" cy="4409700"/>
          </a:xfrm>
          <a:prstGeom prst="rect">
            <a:avLst/>
          </a:prstGeom>
        </p:spPr>
        <p:txBody>
          <a:bodyPr spcFirstLastPara="1" wrap="square" lIns="0" tIns="0" rIns="0" bIns="0" anchor="t" anchorCtr="0">
            <a:normAutofit/>
          </a:bodyPr>
          <a:lstStyle/>
          <a:p>
            <a:pPr marL="114300" indent="0">
              <a:buNone/>
            </a:pPr>
            <a:r>
              <a:rPr lang="en-US" sz="2000" dirty="0">
                <a:latin typeface="Times New Roman" panose="02020603050405020304" pitchFamily="18" charset="0"/>
                <a:cs typeface="Times New Roman" panose="02020603050405020304" pitchFamily="18" charset="0"/>
              </a:rPr>
              <a:t>The main objectives of this study are:</a:t>
            </a:r>
          </a:p>
          <a:p>
            <a:r>
              <a:rPr lang="en-US" sz="2000" dirty="0">
                <a:latin typeface="Times New Roman" panose="02020603050405020304" pitchFamily="18" charset="0"/>
                <a:cs typeface="Times New Roman" panose="02020603050405020304" pitchFamily="18" charset="0"/>
              </a:rPr>
              <a:t>To analyze how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systems improve the efficiency of backend operations </a:t>
            </a:r>
          </a:p>
          <a:p>
            <a:r>
              <a:rPr lang="en-US" sz="2000" dirty="0">
                <a:latin typeface="Times New Roman" panose="02020603050405020304" pitchFamily="18" charset="0"/>
                <a:cs typeface="Times New Roman" panose="02020603050405020304" pitchFamily="18" charset="0"/>
              </a:rPr>
              <a:t>To examine the role of ERP in reducing manual workload and administrative errors </a:t>
            </a:r>
          </a:p>
          <a:p>
            <a:r>
              <a:rPr lang="en-US" sz="2000" dirty="0">
                <a:latin typeface="Times New Roman" panose="02020603050405020304" pitchFamily="18" charset="0"/>
                <a:cs typeface="Times New Roman" panose="02020603050405020304" pitchFamily="18" charset="0"/>
              </a:rPr>
              <a:t>To study how ERP enhances data accuracy and inter-departmental coordination </a:t>
            </a:r>
          </a:p>
          <a:p>
            <a:r>
              <a:rPr lang="en-US" sz="2000" dirty="0">
                <a:latin typeface="Times New Roman" panose="02020603050405020304" pitchFamily="18" charset="0"/>
                <a:cs typeface="Times New Roman" panose="02020603050405020304" pitchFamily="18" charset="0"/>
              </a:rPr>
              <a:t>To evaluate how real-time reporting and automation through ERP support better decision-making </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g3e6813604e6_1_29"/>
          <p:cNvSpPr txBox="1">
            <a:spLocks noGrp="1"/>
          </p:cNvSpPr>
          <p:nvPr>
            <p:ph type="title"/>
          </p:nvPr>
        </p:nvSpPr>
        <p:spPr>
          <a:xfrm>
            <a:off x="457200" y="0"/>
            <a:ext cx="50289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Literature Review</a:t>
            </a:r>
            <a:r>
              <a:rPr lang="en-US"/>
              <a:t> </a:t>
            </a:r>
            <a:endParaRPr/>
          </a:p>
        </p:txBody>
      </p:sp>
      <p:sp>
        <p:nvSpPr>
          <p:cNvPr id="112" name="Google Shape;112;g3e6813604e6_1_29"/>
          <p:cNvSpPr txBox="1">
            <a:spLocks noGrp="1"/>
          </p:cNvSpPr>
          <p:nvPr>
            <p:ph type="body" idx="1"/>
          </p:nvPr>
        </p:nvSpPr>
        <p:spPr>
          <a:xfrm>
            <a:off x="457200" y="1135676"/>
            <a:ext cx="8229300" cy="4446300"/>
          </a:xfrm>
          <a:prstGeom prst="rect">
            <a:avLst/>
          </a:prstGeom>
        </p:spPr>
        <p:txBody>
          <a:bodyPr spcFirstLastPara="1" wrap="square" lIns="0" tIns="0" rIns="0" bIns="0" anchor="t" anchorCtr="0">
            <a:noAutofit/>
          </a:bodyPr>
          <a:lstStyle/>
          <a:p>
            <a:r>
              <a:rPr lang="en-US" sz="2000" dirty="0">
                <a:latin typeface="Times New Roman" panose="02020603050405020304" pitchFamily="18" charset="0"/>
                <a:cs typeface="Times New Roman" panose="02020603050405020304" pitchFamily="18" charset="0"/>
              </a:rPr>
              <a:t>Several studies have examined how administrative inefficiencies arise when backend departments operate through isolated systems and manual procedures. Research highlights that the absence of integration among finance, human resources, procurement, and inventory departments often leads to delays, data redundancy, miscommunication, and frequent reporting errors. These issues negatively affect organizational productivity and decision-making processes.</a:t>
            </a:r>
          </a:p>
          <a:p>
            <a:r>
              <a:rPr lang="en-US" sz="2000" dirty="0">
                <a:latin typeface="Times New Roman" panose="02020603050405020304" pitchFamily="18" charset="0"/>
                <a:cs typeface="Times New Roman" panose="02020603050405020304" pitchFamily="18" charset="0"/>
              </a:rPr>
              <a:t>The implementation of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systems is widely recognized as a solution to these challenges. This integration reduces manual workload, improves data accuracy, and strengthens coordination among different functional units.</a:t>
            </a:r>
          </a:p>
          <a:p>
            <a:r>
              <a:rPr lang="en-US" sz="2000" dirty="0">
                <a:latin typeface="Times New Roman" panose="02020603050405020304" pitchFamily="18" charset="0"/>
                <a:cs typeface="Times New Roman" panose="02020603050405020304" pitchFamily="18" charset="0"/>
              </a:rPr>
              <a:t>However, most existing studies focus on general benefits and case-based observations of ERP adoption. There is limited comparative analysis between traditional backend systems and ERP-based administrative systems to clearly measure improvements in efficiency, accuracy, coordination, and overall operational performance.</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g3e6813604e6_1_37"/>
          <p:cNvSpPr txBox="1">
            <a:spLocks noGrp="1"/>
          </p:cNvSpPr>
          <p:nvPr>
            <p:ph type="title"/>
          </p:nvPr>
        </p:nvSpPr>
        <p:spPr>
          <a:xfrm>
            <a:off x="531200" y="0"/>
            <a:ext cx="49548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Methodology </a:t>
            </a:r>
            <a:endParaRPr sz="3200">
              <a:latin typeface="Times New Roman"/>
              <a:ea typeface="Times New Roman"/>
              <a:cs typeface="Times New Roman"/>
              <a:sym typeface="Times New Roman"/>
            </a:endParaRPr>
          </a:p>
        </p:txBody>
      </p:sp>
      <p:sp>
        <p:nvSpPr>
          <p:cNvPr id="119" name="Google Shape;119;g3e6813604e6_1_37"/>
          <p:cNvSpPr txBox="1">
            <a:spLocks noGrp="1"/>
          </p:cNvSpPr>
          <p:nvPr>
            <p:ph type="body" idx="1"/>
          </p:nvPr>
        </p:nvSpPr>
        <p:spPr>
          <a:xfrm>
            <a:off x="457200" y="1245575"/>
            <a:ext cx="8229300" cy="5349958"/>
          </a:xfrm>
          <a:prstGeom prst="rect">
            <a:avLst/>
          </a:prstGeom>
        </p:spPr>
        <p:txBody>
          <a:bodyPr spcFirstLastPara="1" wrap="square" lIns="0" tIns="0" rIns="0" bIns="0" anchor="t" anchorCtr="0">
            <a:noAutofit/>
          </a:bodyPr>
          <a:lstStyle/>
          <a:p>
            <a:pPr marL="114300" indent="0">
              <a:buNone/>
            </a:pPr>
            <a:r>
              <a:rPr lang="en-US" sz="2000" dirty="0">
                <a:latin typeface="Times New Roman" panose="02020603050405020304" pitchFamily="18" charset="0"/>
                <a:cs typeface="Times New Roman" panose="02020603050405020304" pitchFamily="18" charset="0"/>
              </a:rPr>
              <a:t>This study follows a structured comparative approach to analyze how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systems improve backend administrative operations.</a:t>
            </a:r>
          </a:p>
          <a:p>
            <a:r>
              <a:rPr lang="en-US" sz="2000" dirty="0">
                <a:latin typeface="Times New Roman" panose="02020603050405020304" pitchFamily="18" charset="0"/>
                <a:cs typeface="Times New Roman" panose="02020603050405020304" pitchFamily="18" charset="0"/>
              </a:rPr>
              <a:t>Dataset of organizational practices and case studies collected with key variables: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Operational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Workload Reduction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Data Accuracy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Inter-departmental Coordination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Decision-Making Speed</a:t>
            </a:r>
          </a:p>
          <a:p>
            <a:r>
              <a:rPr lang="en-US" sz="2000" dirty="0">
                <a:latin typeface="Times New Roman" panose="02020603050405020304" pitchFamily="18" charset="0"/>
                <a:cs typeface="Times New Roman" panose="02020603050405020304" pitchFamily="18" charset="0"/>
              </a:rPr>
              <a:t>Data review and analysis performed using: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Research papers, journals, and industry case studies</a:t>
            </a:r>
          </a:p>
          <a:p>
            <a:r>
              <a:rPr lang="en-US" sz="2000" dirty="0">
                <a:latin typeface="Times New Roman" panose="02020603050405020304" pitchFamily="18" charset="0"/>
                <a:cs typeface="Times New Roman" panose="02020603050405020304" pitchFamily="18" charset="0"/>
              </a:rPr>
              <a:t>Comparative analysis used to identify patterns and improvements between traditional systems and ERP-based systems</a:t>
            </a:r>
          </a:p>
          <a:p>
            <a:r>
              <a:rPr lang="en-US" sz="2000" dirty="0">
                <a:latin typeface="Times New Roman" panose="02020603050405020304" pitchFamily="18" charset="0"/>
                <a:cs typeface="Times New Roman" panose="02020603050405020304" pitchFamily="18" charset="0"/>
              </a:rPr>
              <a:t>Analytical evaluation applied: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Systematic comparison to measure backend performance improvements through ERP implementation</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g3e6813604e6_1_45"/>
          <p:cNvSpPr txBox="1">
            <a:spLocks noGrp="1"/>
          </p:cNvSpPr>
          <p:nvPr>
            <p:ph type="title"/>
          </p:nvPr>
        </p:nvSpPr>
        <p:spPr>
          <a:xfrm>
            <a:off x="457200" y="0"/>
            <a:ext cx="50289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Machine Learning Model </a:t>
            </a:r>
            <a:endParaRPr sz="3200">
              <a:latin typeface="Times New Roman"/>
              <a:ea typeface="Times New Roman"/>
              <a:cs typeface="Times New Roman"/>
              <a:sym typeface="Times New Roman"/>
            </a:endParaRPr>
          </a:p>
        </p:txBody>
      </p:sp>
      <p:sp>
        <p:nvSpPr>
          <p:cNvPr id="126" name="Google Shape;126;g3e6813604e6_1_45"/>
          <p:cNvSpPr txBox="1">
            <a:spLocks noGrp="1"/>
          </p:cNvSpPr>
          <p:nvPr>
            <p:ph type="body" idx="1"/>
          </p:nvPr>
        </p:nvSpPr>
        <p:spPr>
          <a:xfrm>
            <a:off x="457200" y="1154001"/>
            <a:ext cx="8229300" cy="4428000"/>
          </a:xfrm>
          <a:prstGeom prst="rect">
            <a:avLst/>
          </a:prstGeom>
        </p:spPr>
        <p:txBody>
          <a:bodyPr spcFirstLastPara="1" wrap="square" lIns="0" tIns="0" rIns="0" bIns="0" anchor="t" anchorCtr="0">
            <a:noAutofit/>
          </a:bodyPr>
          <a:lstStyle/>
          <a:p>
            <a:pPr marL="114300" indent="0">
              <a:buNone/>
            </a:pPr>
            <a:r>
              <a:rPr lang="en-US" sz="2000" dirty="0">
                <a:latin typeface="Times New Roman" panose="02020603050405020304" pitchFamily="18" charset="0"/>
                <a:cs typeface="Times New Roman" panose="02020603050405020304" pitchFamily="18" charset="0"/>
              </a:rPr>
              <a:t>Model Used: Comparative System Evaluation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Objective: Assess improvement in backend efficiency after ERP implementation</a:t>
            </a:r>
          </a:p>
          <a:p>
            <a:r>
              <a:rPr lang="en-US" sz="2000" dirty="0">
                <a:latin typeface="Times New Roman" panose="02020603050405020304" pitchFamily="18" charset="0"/>
                <a:cs typeface="Times New Roman" panose="02020603050405020304" pitchFamily="18" charset="0"/>
              </a:rPr>
              <a:t>System Comparison: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Traditional Administrative Practices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ERP-Based Administrative Practices</a:t>
            </a:r>
          </a:p>
          <a:p>
            <a:r>
              <a:rPr lang="en-US" sz="2000" dirty="0">
                <a:latin typeface="Times New Roman" panose="02020603050405020304" pitchFamily="18" charset="0"/>
                <a:cs typeface="Times New Roman" panose="02020603050405020304" pitchFamily="18" charset="0"/>
              </a:rPr>
              <a:t>Evaluation Metrics: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Operational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Data Accuracy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Inter-departmental Coordination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Decision-Making Speed</a:t>
            </a:r>
          </a:p>
          <a:p>
            <a:pPr marL="114300" indent="0">
              <a:buNone/>
            </a:pPr>
            <a:r>
              <a:rPr lang="en-US" sz="2000" dirty="0">
                <a:latin typeface="Times New Roman" panose="02020603050405020304" pitchFamily="18" charset="0"/>
                <a:cs typeface="Times New Roman" panose="02020603050405020304" pitchFamily="18" charset="0"/>
              </a:rPr>
              <a:t>The analysis shows a positive relationship, indicating that ERP implementation leads to improved efficiency, reduced errors, and better organizational coordination.</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g3e6813604e6_1_53"/>
          <p:cNvSpPr txBox="1">
            <a:spLocks noGrp="1"/>
          </p:cNvSpPr>
          <p:nvPr>
            <p:ph type="title"/>
          </p:nvPr>
        </p:nvSpPr>
        <p:spPr>
          <a:xfrm>
            <a:off x="457200" y="0"/>
            <a:ext cx="57342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Exploratory Data Analysis (EDA) </a:t>
            </a:r>
            <a:endParaRPr sz="3200">
              <a:latin typeface="Times New Roman"/>
              <a:ea typeface="Times New Roman"/>
              <a:cs typeface="Times New Roman"/>
              <a:sym typeface="Times New Roman"/>
            </a:endParaRPr>
          </a:p>
        </p:txBody>
      </p:sp>
      <p:sp>
        <p:nvSpPr>
          <p:cNvPr id="133" name="Google Shape;133;g3e6813604e6_1_53"/>
          <p:cNvSpPr txBox="1">
            <a:spLocks noGrp="1"/>
          </p:cNvSpPr>
          <p:nvPr>
            <p:ph type="body" idx="1"/>
          </p:nvPr>
        </p:nvSpPr>
        <p:spPr>
          <a:xfrm>
            <a:off x="457505" y="1215000"/>
            <a:ext cx="8364762" cy="4279867"/>
          </a:xfrm>
          <a:prstGeom prst="rect">
            <a:avLst/>
          </a:prstGeom>
        </p:spPr>
        <p:txBody>
          <a:bodyPr spcFirstLastPara="1" wrap="square" lIns="0" tIns="0" rIns="0" bIns="0" anchor="t" anchorCtr="0">
            <a:normAutofit/>
          </a:bodyPr>
          <a:lstStyle/>
          <a:p>
            <a:pPr marL="114300" indent="0">
              <a:buNone/>
            </a:pPr>
            <a:r>
              <a:rPr lang="en-US" sz="2000" dirty="0">
                <a:latin typeface="Times New Roman" panose="02020603050405020304" pitchFamily="18" charset="0"/>
                <a:cs typeface="Times New Roman" panose="02020603050405020304" pitchFamily="18" charset="0"/>
              </a:rPr>
              <a:t>Exploratory analysis was performed to identify patterns and relationships between backend operational factors.</a:t>
            </a:r>
          </a:p>
          <a:p>
            <a:r>
              <a:rPr lang="en-US" sz="2000" dirty="0">
                <a:latin typeface="Times New Roman" panose="02020603050405020304" pitchFamily="18" charset="0"/>
                <a:cs typeface="Times New Roman" panose="02020603050405020304" pitchFamily="18" charset="0"/>
              </a:rPr>
              <a:t>Chart Representation: Shows comparison between traditional systems and ERP-based systems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Bar Chart: Displays improvement in operational efficiency after ERP adoption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Process Flow Diagram: Represents integration of departments through ERP</a:t>
            </a:r>
          </a:p>
          <a:p>
            <a:pPr marL="114300" indent="0">
              <a:buNone/>
            </a:pPr>
            <a:r>
              <a:rPr lang="en-US" sz="2000" dirty="0">
                <a:latin typeface="Times New Roman" panose="02020603050405020304" pitchFamily="18" charset="0"/>
                <a:cs typeface="Times New Roman" panose="02020603050405020304" pitchFamily="18" charset="0"/>
              </a:rPr>
              <a:t>Key Insight: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Backend efficiency improves significantly after ERP implementation, showing a clear positive impact on coordination, accuracy, and </a:t>
            </a:r>
            <a:r>
              <a:rPr lang="en-US" sz="2000" dirty="0"/>
              <a:t>workflow.</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0E568239-2828-CD8D-BDA6-06FEA1FC4827}"/>
              </a:ext>
            </a:extLst>
          </p:cNvPr>
          <p:cNvPicPr>
            <a:picLocks noChangeAspect="1"/>
          </p:cNvPicPr>
          <p:nvPr/>
        </p:nvPicPr>
        <p:blipFill>
          <a:blip r:embed="rId3"/>
          <a:stretch>
            <a:fillRect/>
          </a:stretch>
        </p:blipFill>
        <p:spPr>
          <a:xfrm>
            <a:off x="496046" y="4400974"/>
            <a:ext cx="2912381" cy="2126575"/>
          </a:xfrm>
          <a:prstGeom prst="rect">
            <a:avLst/>
          </a:prstGeom>
        </p:spPr>
      </p:pic>
      <p:pic>
        <p:nvPicPr>
          <p:cNvPr id="5" name="Picture 4">
            <a:extLst>
              <a:ext uri="{FF2B5EF4-FFF2-40B4-BE49-F238E27FC236}">
                <a16:creationId xmlns:a16="http://schemas.microsoft.com/office/drawing/2014/main" id="{70A48815-13F5-C6FF-1B80-AFDBFCB92D9A}"/>
              </a:ext>
            </a:extLst>
          </p:cNvPr>
          <p:cNvPicPr>
            <a:picLocks noChangeAspect="1"/>
          </p:cNvPicPr>
          <p:nvPr/>
        </p:nvPicPr>
        <p:blipFill>
          <a:blip r:embed="rId4"/>
          <a:stretch>
            <a:fillRect/>
          </a:stretch>
        </p:blipFill>
        <p:spPr>
          <a:xfrm>
            <a:off x="3530600" y="4400974"/>
            <a:ext cx="2451952" cy="2227643"/>
          </a:xfrm>
          <a:prstGeom prst="rect">
            <a:avLst/>
          </a:prstGeom>
        </p:spPr>
      </p:pic>
      <p:pic>
        <p:nvPicPr>
          <p:cNvPr id="7" name="Picture 6">
            <a:extLst>
              <a:ext uri="{FF2B5EF4-FFF2-40B4-BE49-F238E27FC236}">
                <a16:creationId xmlns:a16="http://schemas.microsoft.com/office/drawing/2014/main" id="{22BAF631-D165-8AFE-4118-E8785C947984}"/>
              </a:ext>
            </a:extLst>
          </p:cNvPr>
          <p:cNvPicPr>
            <a:picLocks noChangeAspect="1"/>
          </p:cNvPicPr>
          <p:nvPr/>
        </p:nvPicPr>
        <p:blipFill>
          <a:blip r:embed="rId5"/>
          <a:stretch>
            <a:fillRect/>
          </a:stretch>
        </p:blipFill>
        <p:spPr>
          <a:xfrm>
            <a:off x="6119244" y="4546600"/>
            <a:ext cx="2528710" cy="189653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g3e6813604e6_1_61"/>
          <p:cNvSpPr txBox="1">
            <a:spLocks noGrp="1"/>
          </p:cNvSpPr>
          <p:nvPr>
            <p:ph type="title"/>
          </p:nvPr>
        </p:nvSpPr>
        <p:spPr>
          <a:xfrm>
            <a:off x="457200" y="439625"/>
            <a:ext cx="5028900" cy="474300"/>
          </a:xfrm>
          <a:prstGeom prst="rect">
            <a:avLst/>
          </a:prstGeom>
        </p:spPr>
        <p:txBody>
          <a:bodyPr spcFirstLastPara="1" wrap="square" lIns="0" tIns="0" rIns="0" bIns="0" anchor="ctr" anchorCtr="0">
            <a:noAutofit/>
          </a:bodyPr>
          <a:lstStyle/>
          <a:p>
            <a:pPr marL="0" lvl="0" indent="0" algn="l" rtl="0">
              <a:lnSpc>
                <a:spcPct val="115000"/>
              </a:lnSpc>
              <a:spcBef>
                <a:spcPts val="2400"/>
              </a:spcBef>
              <a:spcAft>
                <a:spcPts val="0"/>
              </a:spcAft>
              <a:buClr>
                <a:schemeClr val="dk1"/>
              </a:buClr>
              <a:buSzPts val="1100"/>
              <a:buFont typeface="Arial"/>
              <a:buNone/>
            </a:pPr>
            <a:r>
              <a:rPr lang="en-US" sz="3200">
                <a:latin typeface="Times New Roman"/>
                <a:ea typeface="Times New Roman"/>
                <a:cs typeface="Times New Roman"/>
                <a:sym typeface="Times New Roman"/>
              </a:rPr>
              <a:t>Correlation Analysis</a:t>
            </a:r>
            <a:endParaRPr sz="3200">
              <a:latin typeface="Times New Roman"/>
              <a:ea typeface="Times New Roman"/>
              <a:cs typeface="Times New Roman"/>
              <a:sym typeface="Times New Roman"/>
            </a:endParaRPr>
          </a:p>
          <a:p>
            <a:pPr marL="0" lvl="0" indent="0" algn="l" rtl="0">
              <a:spcBef>
                <a:spcPts val="600"/>
              </a:spcBef>
              <a:spcAft>
                <a:spcPts val="0"/>
              </a:spcAft>
              <a:buNone/>
            </a:pPr>
            <a:endParaRPr sz="3200">
              <a:latin typeface="Times New Roman"/>
              <a:ea typeface="Times New Roman"/>
              <a:cs typeface="Times New Roman"/>
              <a:sym typeface="Times New Roman"/>
            </a:endParaRPr>
          </a:p>
        </p:txBody>
      </p:sp>
      <p:sp>
        <p:nvSpPr>
          <p:cNvPr id="143" name="Google Shape;143;g3e6813604e6_1_61"/>
          <p:cNvSpPr txBox="1">
            <a:spLocks noGrp="1"/>
          </p:cNvSpPr>
          <p:nvPr>
            <p:ph type="body" idx="1"/>
          </p:nvPr>
        </p:nvSpPr>
        <p:spPr>
          <a:xfrm>
            <a:off x="457350" y="1215000"/>
            <a:ext cx="8229300" cy="4428000"/>
          </a:xfrm>
          <a:prstGeom prst="rect">
            <a:avLst/>
          </a:prstGeom>
        </p:spPr>
        <p:txBody>
          <a:bodyPr spcFirstLastPara="1" wrap="square" lIns="0" tIns="0" rIns="0" bIns="0" anchor="t" anchorCtr="0">
            <a:normAutofit/>
          </a:bodyPr>
          <a:lstStyle/>
          <a:p>
            <a:pPr marL="114300" indent="0">
              <a:buNone/>
            </a:pPr>
            <a:r>
              <a:rPr lang="en-US" sz="2000" dirty="0">
                <a:latin typeface="Times New Roman" panose="02020603050405020304" pitchFamily="18" charset="0"/>
                <a:cs typeface="Times New Roman" panose="02020603050405020304" pitchFamily="18" charset="0"/>
              </a:rPr>
              <a:t>Correlation analysis was performed to understand the relationship between ERP adoption and backend operational factors.</a:t>
            </a:r>
          </a:p>
          <a:p>
            <a:r>
              <a:rPr lang="en-US" sz="2000" dirty="0">
                <a:latin typeface="Times New Roman" panose="02020603050405020304" pitchFamily="18" charset="0"/>
                <a:cs typeface="Times New Roman" panose="02020603050405020304" pitchFamily="18" charset="0"/>
              </a:rPr>
              <a:t>Positive correlation between: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ERP Implementation and Operational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ERP Implementation and Data Accuracy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ERP Implementation and Inter-departmental Coordination</a:t>
            </a:r>
          </a:p>
          <a:p>
            <a:r>
              <a:rPr lang="en-US" sz="2000" dirty="0">
                <a:latin typeface="Times New Roman" panose="02020603050405020304" pitchFamily="18" charset="0"/>
                <a:cs typeface="Times New Roman" panose="02020603050405020304" pitchFamily="18" charset="0"/>
              </a:rPr>
              <a:t>Negative correlation between: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ERP Implementation and Manual Workload</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ERP Implementation and Administrative Errors</a:t>
            </a:r>
          </a:p>
          <a:p>
            <a:pPr marL="114300" indent="0">
              <a:buNone/>
            </a:pPr>
            <a:r>
              <a:rPr lang="en-US" sz="2000" b="1" dirty="0">
                <a:latin typeface="Times New Roman" panose="02020603050405020304" pitchFamily="18" charset="0"/>
                <a:cs typeface="Times New Roman" panose="02020603050405020304" pitchFamily="18" charset="0"/>
              </a:rPr>
              <a:t>Key Insight: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Higher adoption of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leads to improved efficiency, better coordination, and reduced errors in backend operations.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g3e6813604e6_1_70"/>
          <p:cNvSpPr txBox="1">
            <a:spLocks noGrp="1"/>
          </p:cNvSpPr>
          <p:nvPr>
            <p:ph type="title"/>
          </p:nvPr>
        </p:nvSpPr>
        <p:spPr>
          <a:xfrm>
            <a:off x="457200" y="0"/>
            <a:ext cx="50289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Results &amp; Discussion </a:t>
            </a:r>
            <a:endParaRPr sz="3200">
              <a:latin typeface="Times New Roman"/>
              <a:ea typeface="Times New Roman"/>
              <a:cs typeface="Times New Roman"/>
              <a:sym typeface="Times New Roman"/>
            </a:endParaRPr>
          </a:p>
        </p:txBody>
      </p:sp>
      <p:sp>
        <p:nvSpPr>
          <p:cNvPr id="151" name="Google Shape;151;g3e6813604e6_1_70"/>
          <p:cNvSpPr txBox="1">
            <a:spLocks noGrp="1"/>
          </p:cNvSpPr>
          <p:nvPr>
            <p:ph type="body" idx="1"/>
          </p:nvPr>
        </p:nvSpPr>
        <p:spPr>
          <a:xfrm>
            <a:off x="457200" y="1172301"/>
            <a:ext cx="8229300" cy="4409700"/>
          </a:xfrm>
          <a:prstGeom prst="rect">
            <a:avLst/>
          </a:prstGeom>
        </p:spPr>
        <p:txBody>
          <a:bodyPr spcFirstLastPara="1" wrap="square" lIns="0" tIns="0" rIns="0" bIns="0" anchor="t" anchorCtr="0">
            <a:noAutofit/>
          </a:bodyPr>
          <a:lstStyle/>
          <a:p>
            <a:pPr marL="114300" indent="0">
              <a:buNone/>
            </a:pPr>
            <a:r>
              <a:rPr lang="en-US" sz="2000" dirty="0">
                <a:latin typeface="Times New Roman" panose="02020603050405020304" pitchFamily="18" charset="0"/>
                <a:cs typeface="Times New Roman" panose="02020603050405020304" pitchFamily="18" charset="0"/>
              </a:rPr>
              <a:t>The analysis highlights the significant impact of ERP adoption on improving backend administrative performance.</a:t>
            </a:r>
          </a:p>
          <a:p>
            <a:r>
              <a:rPr lang="en-US" sz="2000" dirty="0">
                <a:latin typeface="Times New Roman" panose="02020603050405020304" pitchFamily="18" charset="0"/>
                <a:cs typeface="Times New Roman" panose="02020603050405020304" pitchFamily="18" charset="0"/>
              </a:rPr>
              <a:t>Moderate system integration improves coordination and workflow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Effective ERP usage leads to:</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Increased operational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Reduced administrative errors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Faster decision-making and reporting</a:t>
            </a:r>
          </a:p>
          <a:p>
            <a:r>
              <a:rPr lang="en-US" sz="2000" dirty="0">
                <a:latin typeface="Times New Roman" panose="02020603050405020304" pitchFamily="18" charset="0"/>
                <a:cs typeface="Times New Roman" panose="02020603050405020304" pitchFamily="18" charset="0"/>
              </a:rPr>
              <a:t>Key factors improving performance:</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Process automation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Centralized data management</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Real-time information access</a:t>
            </a:r>
          </a:p>
          <a:p>
            <a:pPr marL="114300" indent="0">
              <a:buNone/>
            </a:pPr>
            <a:r>
              <a:rPr lang="en-US" sz="2000" dirty="0">
                <a:latin typeface="Times New Roman" panose="02020603050405020304" pitchFamily="18" charset="0"/>
                <a:cs typeface="Times New Roman" panose="02020603050405020304" pitchFamily="18" charset="0"/>
              </a:rPr>
              <a:t>The comparative evaluation confirms a positive relationship between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implementation and backend efficiency.</a:t>
            </a:r>
            <a:endParaRPr sz="2000" dirty="0">
              <a:latin typeface="Times New Roman"/>
              <a:ea typeface="Times New Roman"/>
              <a:cs typeface="Times New Roman"/>
              <a:sym typeface="Times New Roman"/>
            </a:endParaRP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g3e6813604e6_1_78"/>
          <p:cNvSpPr txBox="1">
            <a:spLocks noGrp="1"/>
          </p:cNvSpPr>
          <p:nvPr>
            <p:ph type="title"/>
          </p:nvPr>
        </p:nvSpPr>
        <p:spPr>
          <a:xfrm>
            <a:off x="457200" y="0"/>
            <a:ext cx="50289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Conclusion</a:t>
            </a:r>
            <a:endParaRPr sz="3200">
              <a:latin typeface="Times New Roman"/>
              <a:ea typeface="Times New Roman"/>
              <a:cs typeface="Times New Roman"/>
              <a:sym typeface="Times New Roman"/>
            </a:endParaRPr>
          </a:p>
        </p:txBody>
      </p:sp>
      <p:sp>
        <p:nvSpPr>
          <p:cNvPr id="158" name="Google Shape;158;g3e6813604e6_1_78"/>
          <p:cNvSpPr txBox="1">
            <a:spLocks noGrp="1"/>
          </p:cNvSpPr>
          <p:nvPr>
            <p:ph type="body" idx="1"/>
          </p:nvPr>
        </p:nvSpPr>
        <p:spPr>
          <a:xfrm>
            <a:off x="457200" y="1135676"/>
            <a:ext cx="8229300" cy="4446300"/>
          </a:xfrm>
          <a:prstGeom prst="rect">
            <a:avLst/>
          </a:prstGeom>
        </p:spPr>
        <p:txBody>
          <a:bodyPr spcFirstLastPara="1" wrap="square" lIns="0" tIns="0" rIns="0" bIns="0" anchor="t" anchorCtr="0">
            <a:noAutofit/>
          </a:bodyPr>
          <a:lstStyle/>
          <a:p>
            <a:pPr marL="114300" indent="0">
              <a:buNone/>
            </a:pPr>
            <a:r>
              <a:rPr lang="en-US" sz="2000" dirty="0">
                <a:latin typeface="Times New Roman" panose="02020603050405020304" pitchFamily="18" charset="0"/>
                <a:cs typeface="Times New Roman" panose="02020603050405020304" pitchFamily="18" charset="0"/>
              </a:rPr>
              <a:t>This study highlights that backend administrative systems play a significant role in influencing organizational efficiency and coordination.</a:t>
            </a:r>
          </a:p>
          <a:p>
            <a:r>
              <a:rPr lang="en-US" sz="2000" dirty="0">
                <a:latin typeface="Times New Roman" panose="02020603050405020304" pitchFamily="18" charset="0"/>
                <a:cs typeface="Times New Roman" panose="02020603050405020304" pitchFamily="18" charset="0"/>
              </a:rPr>
              <a:t>Inefficient and disconnected systems lead to:</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Reduced operational efficiency</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Increased administrative errors</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Delays in reporting and decision-making</a:t>
            </a:r>
          </a:p>
          <a:p>
            <a:r>
              <a:rPr lang="en-US" sz="2000" dirty="0">
                <a:latin typeface="Times New Roman" panose="02020603050405020304" pitchFamily="18" charset="0"/>
                <a:cs typeface="Times New Roman" panose="02020603050405020304" pitchFamily="18" charset="0"/>
              </a:rPr>
              <a:t>Structured and integrated use of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systems can improve overall performance and workflow management.</a:t>
            </a:r>
          </a:p>
          <a:p>
            <a:pPr marL="114300" indent="0">
              <a:buNone/>
            </a:pPr>
            <a:r>
              <a:rPr lang="en-US" sz="2000" dirty="0">
                <a:latin typeface="Times New Roman" panose="02020603050405020304" pitchFamily="18" charset="0"/>
                <a:cs typeface="Times New Roman" panose="02020603050405020304" pitchFamily="18" charset="0"/>
              </a:rPr>
              <a:t>A systematic comparative approach helps in better understanding and evaluating how ERP enhances backend operations and organizational effectiveness.</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e6813604e6_1_85"/>
          <p:cNvSpPr txBox="1">
            <a:spLocks noGrp="1"/>
          </p:cNvSpPr>
          <p:nvPr>
            <p:ph type="title"/>
          </p:nvPr>
        </p:nvSpPr>
        <p:spPr>
          <a:xfrm>
            <a:off x="457200" y="0"/>
            <a:ext cx="5028900" cy="9141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US" sz="3200">
                <a:latin typeface="Times New Roman"/>
                <a:ea typeface="Times New Roman"/>
                <a:cs typeface="Times New Roman"/>
                <a:sym typeface="Times New Roman"/>
              </a:rPr>
              <a:t>Recommendations </a:t>
            </a:r>
            <a:endParaRPr sz="3200">
              <a:latin typeface="Times New Roman"/>
              <a:ea typeface="Times New Roman"/>
              <a:cs typeface="Times New Roman"/>
              <a:sym typeface="Times New Roman"/>
            </a:endParaRPr>
          </a:p>
        </p:txBody>
      </p:sp>
      <p:sp>
        <p:nvSpPr>
          <p:cNvPr id="165" name="Google Shape;165;g3e6813604e6_1_85"/>
          <p:cNvSpPr txBox="1">
            <a:spLocks noGrp="1"/>
          </p:cNvSpPr>
          <p:nvPr>
            <p:ph type="body" idx="1"/>
          </p:nvPr>
        </p:nvSpPr>
        <p:spPr>
          <a:xfrm>
            <a:off x="457200" y="1117351"/>
            <a:ext cx="8229300" cy="4464600"/>
          </a:xfrm>
          <a:prstGeom prst="rect">
            <a:avLst/>
          </a:prstGeom>
        </p:spPr>
        <p:txBody>
          <a:bodyPr spcFirstLastPara="1" wrap="square" lIns="0" tIns="0" rIns="0" bIns="0" anchor="t" anchorCtr="0">
            <a:normAutofit/>
          </a:bodyPr>
          <a:lstStyle/>
          <a:p>
            <a:pPr marL="114300" indent="0">
              <a:buNone/>
            </a:pPr>
            <a:r>
              <a:rPr lang="en-US" sz="2000" dirty="0">
                <a:latin typeface="Times New Roman" panose="02020603050405020304" pitchFamily="18" charset="0"/>
                <a:cs typeface="Times New Roman" panose="02020603050405020304" pitchFamily="18" charset="0"/>
              </a:rPr>
              <a:t>To improve backend efficiency and administrative performance, the following measures are suggested:</a:t>
            </a:r>
          </a:p>
          <a:p>
            <a:r>
              <a:rPr lang="en-US" sz="2000" dirty="0">
                <a:latin typeface="Times New Roman" panose="02020603050405020304" pitchFamily="18" charset="0"/>
                <a:cs typeface="Times New Roman" panose="02020603050405020304" pitchFamily="18" charset="0"/>
              </a:rPr>
              <a:t>Implement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in a phased and planned manner</a:t>
            </a:r>
          </a:p>
          <a:p>
            <a:r>
              <a:rPr lang="en-US" sz="2000" dirty="0">
                <a:latin typeface="Times New Roman" panose="02020603050405020304" pitchFamily="18" charset="0"/>
                <a:cs typeface="Times New Roman" panose="02020603050405020304" pitchFamily="18" charset="0"/>
              </a:rPr>
              <a:t>Provide proper training to employees for effective system usage</a:t>
            </a:r>
          </a:p>
          <a:p>
            <a:r>
              <a:rPr lang="en-US" sz="2000" dirty="0">
                <a:latin typeface="Times New Roman" panose="02020603050405020304" pitchFamily="18" charset="0"/>
                <a:cs typeface="Times New Roman" panose="02020603050405020304" pitchFamily="18" charset="0"/>
              </a:rPr>
              <a:t>Automate routine administrative tasks to reduce manual workload</a:t>
            </a:r>
          </a:p>
          <a:p>
            <a:r>
              <a:rPr lang="en-US" sz="2000" dirty="0">
                <a:latin typeface="Times New Roman" panose="02020603050405020304" pitchFamily="18" charset="0"/>
                <a:cs typeface="Times New Roman" panose="02020603050405020304" pitchFamily="18" charset="0"/>
              </a:rPr>
              <a:t>Ensure data integration across all departments</a:t>
            </a:r>
          </a:p>
          <a:p>
            <a:r>
              <a:rPr lang="en-US" sz="2000" dirty="0">
                <a:latin typeface="Times New Roman" panose="02020603050405020304" pitchFamily="18" charset="0"/>
                <a:cs typeface="Times New Roman" panose="02020603050405020304" pitchFamily="18" charset="0"/>
              </a:rPr>
              <a:t>Continuously monitor system performance and workflow</a:t>
            </a:r>
          </a:p>
          <a:p>
            <a:pPr marL="114300" indent="0">
              <a:buNone/>
            </a:pPr>
            <a:r>
              <a:rPr lang="en-US" sz="2000" dirty="0">
                <a:latin typeface="Times New Roman" panose="02020603050405020304" pitchFamily="18" charset="0"/>
                <a:cs typeface="Times New Roman" panose="02020603050405020304" pitchFamily="18" charset="0"/>
              </a:rPr>
              <a:t>Adopting these measures can help organizations achieve better coordination, reduced errors, and improved operational efficiency.</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g3e6813604e6_1_93"/>
          <p:cNvSpPr txBox="1">
            <a:spLocks noGrp="1"/>
          </p:cNvSpPr>
          <p:nvPr>
            <p:ph type="title"/>
          </p:nvPr>
        </p:nvSpPr>
        <p:spPr>
          <a:xfrm>
            <a:off x="457200" y="439625"/>
            <a:ext cx="5028900" cy="474300"/>
          </a:xfrm>
          <a:prstGeom prst="rect">
            <a:avLst/>
          </a:prstGeom>
        </p:spPr>
        <p:txBody>
          <a:bodyPr spcFirstLastPara="1" wrap="square" lIns="0" tIns="0" rIns="0" bIns="0" anchor="ctr" anchorCtr="0">
            <a:noAutofit/>
          </a:bodyPr>
          <a:lstStyle/>
          <a:p>
            <a:pPr marL="0" lvl="0" indent="0" algn="l" rtl="0">
              <a:lnSpc>
                <a:spcPct val="115000"/>
              </a:lnSpc>
              <a:spcBef>
                <a:spcPts val="2400"/>
              </a:spcBef>
              <a:spcAft>
                <a:spcPts val="0"/>
              </a:spcAft>
              <a:buClr>
                <a:schemeClr val="dk1"/>
              </a:buClr>
              <a:buSzPts val="1100"/>
              <a:buFont typeface="Arial"/>
              <a:buNone/>
            </a:pPr>
            <a:r>
              <a:rPr lang="en-US" sz="3200">
                <a:latin typeface="Times New Roman"/>
                <a:ea typeface="Times New Roman"/>
                <a:cs typeface="Times New Roman"/>
                <a:sym typeface="Times New Roman"/>
              </a:rPr>
              <a:t>Future Work</a:t>
            </a:r>
            <a:endParaRPr sz="3200">
              <a:latin typeface="Times New Roman"/>
              <a:ea typeface="Times New Roman"/>
              <a:cs typeface="Times New Roman"/>
              <a:sym typeface="Times New Roman"/>
            </a:endParaRPr>
          </a:p>
          <a:p>
            <a:pPr marL="0" lvl="0" indent="0" algn="l" rtl="0">
              <a:spcBef>
                <a:spcPts val="600"/>
              </a:spcBef>
              <a:spcAft>
                <a:spcPts val="0"/>
              </a:spcAft>
              <a:buNone/>
            </a:pPr>
            <a:endParaRPr sz="3200">
              <a:latin typeface="Times New Roman"/>
              <a:ea typeface="Times New Roman"/>
              <a:cs typeface="Times New Roman"/>
              <a:sym typeface="Times New Roman"/>
            </a:endParaRPr>
          </a:p>
        </p:txBody>
      </p:sp>
      <p:sp>
        <p:nvSpPr>
          <p:cNvPr id="172" name="Google Shape;172;g3e6813604e6_1_93"/>
          <p:cNvSpPr txBox="1">
            <a:spLocks noGrp="1"/>
          </p:cNvSpPr>
          <p:nvPr>
            <p:ph type="body" idx="1"/>
          </p:nvPr>
        </p:nvSpPr>
        <p:spPr>
          <a:xfrm>
            <a:off x="457200" y="1154001"/>
            <a:ext cx="8229300" cy="4428000"/>
          </a:xfrm>
          <a:prstGeom prst="rect">
            <a:avLst/>
          </a:prstGeom>
        </p:spPr>
        <p:txBody>
          <a:bodyPr spcFirstLastPara="1" wrap="square" lIns="0" tIns="0" rIns="0" bIns="0" anchor="t" anchorCtr="0">
            <a:normAutofit/>
          </a:bodyPr>
          <a:lstStyle/>
          <a:p>
            <a:pPr marL="114300" indent="0">
              <a:buNone/>
            </a:pPr>
            <a:r>
              <a:rPr lang="en-US" sz="2000" dirty="0">
                <a:latin typeface="Times New Roman" panose="02020603050405020304" pitchFamily="18" charset="0"/>
                <a:cs typeface="Times New Roman" panose="02020603050405020304" pitchFamily="18" charset="0"/>
              </a:rPr>
              <a:t>The study can be extended in the following ways:</a:t>
            </a:r>
          </a:p>
          <a:p>
            <a:r>
              <a:rPr lang="en-US" sz="2000" dirty="0">
                <a:latin typeface="Times New Roman" panose="02020603050405020304" pitchFamily="18" charset="0"/>
                <a:cs typeface="Times New Roman" panose="02020603050405020304" pitchFamily="18" charset="0"/>
              </a:rPr>
              <a:t>Integrate advanced analytics and AI capabilities with </a:t>
            </a:r>
            <a:r>
              <a:rPr lang="en-US" sz="2000" b="1" dirty="0">
                <a:latin typeface="Times New Roman" panose="02020603050405020304" pitchFamily="18" charset="0"/>
                <a:cs typeface="Times New Roman" panose="02020603050405020304" pitchFamily="18" charset="0"/>
              </a:rPr>
              <a:t>Enterprise Resource Planning (ERP)</a:t>
            </a:r>
            <a:r>
              <a:rPr lang="en-US" sz="2000" dirty="0">
                <a:latin typeface="Times New Roman" panose="02020603050405020304" pitchFamily="18" charset="0"/>
                <a:cs typeface="Times New Roman" panose="02020603050405020304" pitchFamily="18" charset="0"/>
              </a:rPr>
              <a:t> for smarter decision-making</a:t>
            </a:r>
          </a:p>
          <a:p>
            <a:r>
              <a:rPr lang="en-US" sz="2000" dirty="0">
                <a:latin typeface="Times New Roman" panose="02020603050405020304" pitchFamily="18" charset="0"/>
                <a:cs typeface="Times New Roman" panose="02020603050405020304" pitchFamily="18" charset="0"/>
              </a:rPr>
              <a:t>Include more organizational case studies for broader comparative analysis</a:t>
            </a:r>
          </a:p>
          <a:p>
            <a:r>
              <a:rPr lang="en-US" sz="2000" dirty="0">
                <a:latin typeface="Times New Roman" panose="02020603050405020304" pitchFamily="18" charset="0"/>
                <a:cs typeface="Times New Roman" panose="02020603050405020304" pitchFamily="18" charset="0"/>
              </a:rPr>
              <a:t>Collect real-time operational data from ERP dashboards for deeper insights</a:t>
            </a:r>
          </a:p>
          <a:p>
            <a:r>
              <a:rPr lang="en-US" sz="2000" dirty="0">
                <a:latin typeface="Times New Roman" panose="02020603050405020304" pitchFamily="18" charset="0"/>
                <a:cs typeface="Times New Roman" panose="02020603050405020304" pitchFamily="18" charset="0"/>
              </a:rPr>
              <a:t>Analyze additional factors such as cost optimization and resource utilization</a:t>
            </a:r>
          </a:p>
          <a:p>
            <a:pPr marL="114300" indent="0">
              <a:buNone/>
            </a:pPr>
            <a:r>
              <a:rPr lang="en-US" sz="2000" dirty="0">
                <a:latin typeface="Times New Roman" panose="02020603050405020304" pitchFamily="18" charset="0"/>
                <a:cs typeface="Times New Roman" panose="02020603050405020304" pitchFamily="18" charset="0"/>
              </a:rPr>
              <a:t>These improvements can provide deeper insights into how ERP systems enhance backend performance and long-term organizational effectiveness.</a:t>
            </a:r>
          </a:p>
          <a:p>
            <a:pPr marL="0" lvl="0" indent="0" algn="l" rtl="0">
              <a:spcBef>
                <a:spcPts val="1200"/>
              </a:spcBef>
              <a:spcAft>
                <a:spcPts val="0"/>
              </a:spcAft>
              <a:buNone/>
            </a:pPr>
            <a:endParaRPr sz="2000" dirty="0">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
          <p:cNvSpPr txBox="1"/>
          <p:nvPr/>
        </p:nvSpPr>
        <p:spPr>
          <a:xfrm>
            <a:off x="1297577" y="2821578"/>
            <a:ext cx="6705599" cy="1410788"/>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5400" b="0" i="0" u="none" strike="noStrike" cap="none">
                <a:solidFill>
                  <a:schemeClr val="dk1"/>
                </a:solidFill>
                <a:latin typeface="Times New Roman"/>
                <a:ea typeface="Times New Roman"/>
                <a:cs typeface="Times New Roman"/>
                <a:sym typeface="Times New Roman"/>
              </a:rPr>
              <a:t>Thank You</a:t>
            </a:r>
            <a:endParaRPr sz="5400" b="0" i="0" u="none" strike="noStrike" cap="none">
              <a:solidFill>
                <a:srgbClr val="000000"/>
              </a:solidFill>
              <a:latin typeface="Times New Roman"/>
              <a:ea typeface="Times New Roman"/>
              <a:cs typeface="Times New Roman"/>
              <a:sym typeface="Times New Roman"/>
            </a:endParaRPr>
          </a:p>
        </p:txBody>
      </p:sp>
      <p:sp>
        <p:nvSpPr>
          <p:cNvPr id="178" name="Google Shape;178;p3"/>
          <p:cNvSpPr txBox="1"/>
          <p:nvPr/>
        </p:nvSpPr>
        <p:spPr>
          <a:xfrm>
            <a:off x="6553080" y="6356520"/>
            <a:ext cx="2133360" cy="36468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1" i="0" u="none" strike="noStrike" cap="none">
                <a:solidFill>
                  <a:srgbClr val="000000"/>
                </a:solidFill>
                <a:latin typeface="Calibri"/>
                <a:ea typeface="Calibri"/>
                <a:cs typeface="Calibri"/>
                <a:sym typeface="Calibri"/>
              </a:rPr>
              <a:t>14</a:t>
            </a:fld>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1196</Words>
  <Application>Microsoft Office PowerPoint</Application>
  <PresentationFormat>On-screen Show (4:3)</PresentationFormat>
  <Paragraphs>94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PowerPoint Presentation</vt:lpstr>
      <vt:lpstr>PowerPoint Presentation</vt:lpstr>
      <vt:lpstr>Problem Statement </vt:lpstr>
      <vt:lpstr>Objectives</vt:lpstr>
      <vt:lpstr>Literature Review </vt:lpstr>
      <vt:lpstr>Methodology </vt:lpstr>
      <vt:lpstr>Machine Learning Model </vt:lpstr>
      <vt:lpstr>Exploratory Data Analysis (EDA) </vt:lpstr>
      <vt:lpstr>Correlation Analysis </vt:lpstr>
      <vt:lpstr>Results &amp; Discussion </vt:lpstr>
      <vt:lpstr>Conclusion</vt:lpstr>
      <vt:lpstr>Recommendations </vt:lpstr>
      <vt:lpstr>Future Work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Kunal Sharma</cp:lastModifiedBy>
  <cp:revision>2</cp:revision>
  <dcterms:created xsi:type="dcterms:W3CDTF">2010-04-09T07:36:15Z</dcterms:created>
  <dcterms:modified xsi:type="dcterms:W3CDTF">2026-04-29T17:44:59Z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